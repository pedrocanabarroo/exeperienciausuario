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670675" cy="9925050"/>
  <p:embeddedFontLs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16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35" roundtripDataSignature="AMtx7mi/DdAirD+zrDBZEilpw1DXA5Xc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Tahoma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670675" cy="992505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670675" cy="992505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670675" cy="992505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670675" cy="992505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6670675" cy="992505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n"/>
          <p:cNvSpPr/>
          <p:nvPr>
            <p:ph idx="2" type="sldImg"/>
          </p:nvPr>
        </p:nvSpPr>
        <p:spPr>
          <a:xfrm>
            <a:off x="-13763360" y="-11798300"/>
            <a:ext cx="15720600" cy="1254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n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" name="Google Shape;60;p1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p2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3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4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0" name="Google Shape;90;p5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1" name="Google Shape;101;p6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" name="Google Shape;111;p7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eb43aad6ee_1_0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" name="Google Shape;126;geb43aad6ee_1_0:notes"/>
          <p:cNvSpPr/>
          <p:nvPr/>
        </p:nvSpPr>
        <p:spPr>
          <a:xfrm>
            <a:off x="666750" y="4714875"/>
            <a:ext cx="5335500" cy="44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eb43aad6ee_1_0:notes"/>
          <p:cNvSpPr txBox="1"/>
          <p:nvPr>
            <p:ph idx="1" type="body"/>
          </p:nvPr>
        </p:nvSpPr>
        <p:spPr>
          <a:xfrm>
            <a:off x="666750" y="4714875"/>
            <a:ext cx="5326200" cy="44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0" name="Google Shape;140;p9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7" name="Google Shape;147;p11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4" name="Google Shape;154;p12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13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9" name="Google Shape;169;p14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8" name="Google Shape;178;p15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" name="Google Shape;186;p16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4" name="Google Shape;194;p17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18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0" name="Google Shape;210;p19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7" name="Google Shape;217;p20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4" name="Google Shape;224;p21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22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0" name="Google Shape;280;p23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7" name="Google Shape;287;p24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5" name="Google Shape;295;p25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3" name="Google Shape;303;p26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/>
          <p:nvPr>
            <p:ph idx="2" type="sldImg"/>
          </p:nvPr>
        </p:nvSpPr>
        <p:spPr>
          <a:xfrm>
            <a:off x="1667668" y="754062"/>
            <a:ext cx="3333600" cy="372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1" name="Google Shape;311;p27:notes"/>
          <p:cNvSpPr/>
          <p:nvPr/>
        </p:nvSpPr>
        <p:spPr>
          <a:xfrm>
            <a:off x="666750" y="4714875"/>
            <a:ext cx="5335587" cy="4465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666750" y="4714875"/>
            <a:ext cx="5326062" cy="4456112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0" type="dt"/>
          </p:nvPr>
        </p:nvSpPr>
        <p:spPr>
          <a:xfrm>
            <a:off x="990600" y="468630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1" type="ftr"/>
          </p:nvPr>
        </p:nvSpPr>
        <p:spPr>
          <a:xfrm>
            <a:off x="3429000" y="4686300"/>
            <a:ext cx="2886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2" type="sldNum"/>
          </p:nvPr>
        </p:nvSpPr>
        <p:spPr>
          <a:xfrm>
            <a:off x="6858000" y="468630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1150937" y="463153"/>
            <a:ext cx="77835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1182687" y="1513284"/>
            <a:ext cx="77628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9144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3352800" y="4743450"/>
            <a:ext cx="2886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67818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9144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352800" y="4743450"/>
            <a:ext cx="2886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7818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bject on top, text on bottom" type="objOverTx">
  <p:cSld name="OBJECT_OVER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idx="10" type="dt"/>
          </p:nvPr>
        </p:nvSpPr>
        <p:spPr>
          <a:xfrm>
            <a:off x="9144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3352800" y="4743450"/>
            <a:ext cx="2886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67818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9"/>
          <p:cNvGrpSpPr/>
          <p:nvPr/>
        </p:nvGrpSpPr>
        <p:grpSpPr>
          <a:xfrm>
            <a:off x="0" y="1828800"/>
            <a:ext cx="8999537" cy="782240"/>
            <a:chOff x="0" y="1536"/>
            <a:chExt cx="5669" cy="657"/>
          </a:xfrm>
        </p:grpSpPr>
        <p:grpSp>
          <p:nvGrpSpPr>
            <p:cNvPr id="12" name="Google Shape;12;p29"/>
            <p:cNvGrpSpPr/>
            <p:nvPr/>
          </p:nvGrpSpPr>
          <p:grpSpPr>
            <a:xfrm>
              <a:off x="183" y="1604"/>
              <a:ext cx="442" cy="293"/>
              <a:chOff x="183" y="1604"/>
              <a:chExt cx="442" cy="293"/>
            </a:xfrm>
          </p:grpSpPr>
          <p:sp>
            <p:nvSpPr>
              <p:cNvPr id="13" name="Google Shape;13;p29"/>
              <p:cNvSpPr/>
              <p:nvPr/>
            </p:nvSpPr>
            <p:spPr>
              <a:xfrm>
                <a:off x="183" y="1604"/>
                <a:ext cx="270" cy="2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" name="Google Shape;14;p29"/>
              <p:cNvSpPr/>
              <p:nvPr/>
            </p:nvSpPr>
            <p:spPr>
              <a:xfrm>
                <a:off x="424" y="1604"/>
                <a:ext cx="201" cy="29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3333CC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" name="Google Shape;15;p29"/>
            <p:cNvGrpSpPr/>
            <p:nvPr/>
          </p:nvGrpSpPr>
          <p:grpSpPr>
            <a:xfrm>
              <a:off x="261" y="1870"/>
              <a:ext cx="458" cy="293"/>
              <a:chOff x="261" y="1870"/>
              <a:chExt cx="458" cy="293"/>
            </a:xfrm>
          </p:grpSpPr>
          <p:sp>
            <p:nvSpPr>
              <p:cNvPr id="16" name="Google Shape;16;p29"/>
              <p:cNvSpPr/>
              <p:nvPr/>
            </p:nvSpPr>
            <p:spPr>
              <a:xfrm>
                <a:off x="261" y="1870"/>
                <a:ext cx="265" cy="293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" name="Google Shape;17;p29"/>
              <p:cNvSpPr/>
              <p:nvPr/>
            </p:nvSpPr>
            <p:spPr>
              <a:xfrm>
                <a:off x="493" y="1870"/>
                <a:ext cx="226" cy="29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rgbClr val="FFCF01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8" name="Google Shape;18;p29"/>
            <p:cNvSpPr/>
            <p:nvPr/>
          </p:nvSpPr>
          <p:spPr>
            <a:xfrm>
              <a:off x="0" y="1824"/>
              <a:ext cx="347" cy="260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400" y="1536"/>
              <a:ext cx="14" cy="657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 flipH="1" rot="10800000">
              <a:off x="199" y="2054"/>
              <a:ext cx="5470" cy="29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" name="Google Shape;21;p29"/>
          <p:cNvSpPr txBox="1"/>
          <p:nvPr>
            <p:ph type="title"/>
          </p:nvPr>
        </p:nvSpPr>
        <p:spPr>
          <a:xfrm>
            <a:off x="990600" y="1371600"/>
            <a:ext cx="77628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idx="10" type="dt"/>
          </p:nvPr>
        </p:nvSpPr>
        <p:spPr>
          <a:xfrm>
            <a:off x="990600" y="468630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9"/>
          <p:cNvSpPr txBox="1"/>
          <p:nvPr>
            <p:ph idx="11" type="ftr"/>
          </p:nvPr>
        </p:nvSpPr>
        <p:spPr>
          <a:xfrm>
            <a:off x="3429000" y="4686300"/>
            <a:ext cx="2886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6858000" y="468630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Tahoma"/>
              <a:buNone/>
              <a:defRPr b="0" i="0" sz="1400" u="none">
                <a:solidFill>
                  <a:srgbClr val="1C1C1C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/>
          <p:nvPr/>
        </p:nvSpPr>
        <p:spPr>
          <a:xfrm>
            <a:off x="417512" y="823913"/>
            <a:ext cx="438300" cy="356100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31"/>
          <p:cNvSpPr/>
          <p:nvPr/>
        </p:nvSpPr>
        <p:spPr>
          <a:xfrm>
            <a:off x="800100" y="823913"/>
            <a:ext cx="328500" cy="356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CF0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31"/>
          <p:cNvSpPr/>
          <p:nvPr/>
        </p:nvSpPr>
        <p:spPr>
          <a:xfrm>
            <a:off x="541337" y="1140619"/>
            <a:ext cx="422400" cy="3561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31"/>
          <p:cNvSpPr/>
          <p:nvPr/>
        </p:nvSpPr>
        <p:spPr>
          <a:xfrm>
            <a:off x="911225" y="1140619"/>
            <a:ext cx="368400" cy="356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3333CC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31"/>
          <p:cNvSpPr/>
          <p:nvPr/>
        </p:nvSpPr>
        <p:spPr>
          <a:xfrm>
            <a:off x="127000" y="1085850"/>
            <a:ext cx="560400" cy="3168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31"/>
          <p:cNvSpPr/>
          <p:nvPr/>
        </p:nvSpPr>
        <p:spPr>
          <a:xfrm>
            <a:off x="762000" y="742950"/>
            <a:ext cx="31800" cy="7893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31"/>
          <p:cNvSpPr/>
          <p:nvPr/>
        </p:nvSpPr>
        <p:spPr>
          <a:xfrm>
            <a:off x="442912" y="1335881"/>
            <a:ext cx="8226300" cy="23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C1C1C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31"/>
          <p:cNvSpPr txBox="1"/>
          <p:nvPr>
            <p:ph type="title"/>
          </p:nvPr>
        </p:nvSpPr>
        <p:spPr>
          <a:xfrm>
            <a:off x="1150937" y="463153"/>
            <a:ext cx="77835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1182687" y="1513284"/>
            <a:ext cx="77628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1" name="Google Shape;41;p31"/>
          <p:cNvSpPr txBox="1"/>
          <p:nvPr>
            <p:ph idx="10" type="dt"/>
          </p:nvPr>
        </p:nvSpPr>
        <p:spPr>
          <a:xfrm>
            <a:off x="9144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31"/>
          <p:cNvSpPr txBox="1"/>
          <p:nvPr>
            <p:ph idx="11" type="ftr"/>
          </p:nvPr>
        </p:nvSpPr>
        <p:spPr>
          <a:xfrm>
            <a:off x="3352800" y="4743450"/>
            <a:ext cx="2886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6781800" y="4743450"/>
            <a:ext cx="189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idx="4294967295" type="title"/>
          </p:nvPr>
        </p:nvSpPr>
        <p:spPr>
          <a:xfrm>
            <a:off x="1079500" y="1085850"/>
            <a:ext cx="79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5400"/>
              <a:buFont typeface="Tahoma"/>
              <a:buNone/>
            </a:pPr>
            <a:r>
              <a:rPr b="0" i="0" lang="en-US" sz="5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Interfaces</a:t>
            </a:r>
            <a:br>
              <a:rPr b="0" i="0" lang="en-US" sz="5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5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Humano-Computador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0" y="3813575"/>
            <a:ext cx="9144000" cy="733500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Humanos e Computadores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Sumário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863600" y="1720453"/>
            <a:ext cx="7632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Psicologia dos Usuários</a:t>
            </a:r>
            <a:endParaRPr/>
          </a:p>
          <a:p>
            <a:pPr indent="-333375" lvl="0" marL="3333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Percepção Humana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idx="1" type="body"/>
          </p:nvPr>
        </p:nvSpPr>
        <p:spPr>
          <a:xfrm>
            <a:off x="900112" y="1513284"/>
            <a:ext cx="80550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Projeto de interfaces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Experiência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Expectativa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3375" lvl="0" marL="33337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Identificar/conhecer habilidades do usuário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Física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Perceptiva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Cognitiva</a:t>
            </a:r>
            <a:endParaRPr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3375" lvl="0" marL="33337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Modelo do Processamanento de Informação Humano (MPIH)</a:t>
            </a:r>
            <a:endParaRPr/>
          </a:p>
        </p:txBody>
      </p:sp>
      <p:sp>
        <p:nvSpPr>
          <p:cNvPr id="78" name="Google Shape;78;p3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Psicologia dos Usuários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378137" y="2133306"/>
            <a:ext cx="144600" cy="540600"/>
          </a:xfrm>
          <a:prstGeom prst="rightBrace">
            <a:avLst>
              <a:gd fmla="val 1800" name="adj1"/>
              <a:gd fmla="val 10800" name="adj2"/>
            </a:avLst>
          </a:prstGeom>
          <a:noFill/>
          <a:ln cap="sq" cmpd="sng" w="28425">
            <a:solidFill>
              <a:srgbClr val="FFCF0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3627962" y="2046578"/>
            <a:ext cx="13383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Usuário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Psicologia dos Usuários</a:t>
            </a:r>
            <a:endParaRPr/>
          </a:p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1182687" y="1513284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Psicologia Cognitiva estuda como nossas mentes trabalham</a:t>
            </a:r>
            <a:endParaRPr/>
          </a:p>
          <a:p>
            <a:pPr indent="-276225" lvl="1" marL="7334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Como pensamos</a:t>
            </a:r>
            <a:endParaRPr/>
          </a:p>
          <a:p>
            <a:pPr indent="-276225" lvl="1" marL="7334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Como lembramos</a:t>
            </a:r>
            <a:endParaRPr/>
          </a:p>
          <a:p>
            <a:pPr indent="-276225" lvl="1" marL="7334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Como aprendemos</a:t>
            </a:r>
            <a:endParaRPr/>
          </a:p>
          <a:p>
            <a:pPr indent="-276225" lvl="1" marL="7334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1042987" y="1491853"/>
            <a:ext cx="7821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Como computadores podem trabalhar com nossas capacidades de percepção?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143000" y="171450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136687" y="2571746"/>
            <a:ext cx="7821600" cy="756000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Mensagem aparece na tela e desaparece antes de termos visualizado completamente</a:t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371600" y="1856184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042987" y="3165872"/>
            <a:ext cx="7821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Sistema visual humano</a:t>
            </a:r>
            <a:endParaRPr/>
          </a:p>
          <a:p>
            <a:pPr indent="-244475" lvl="1" marL="733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820"/>
              <a:buFont typeface="Noto Sans Symbols"/>
              <a:buChar char="■"/>
            </a:pPr>
            <a:r>
              <a:rPr b="0" i="0" lang="en-US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Exige pequena quantidade de tempo para reagir a estímulos e mover os olhos para onde a informação está sendo apresentada</a:t>
            </a:r>
            <a:endParaRPr sz="900"/>
          </a:p>
          <a:p>
            <a:pPr indent="-244475" lvl="1" marL="733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820"/>
              <a:buFont typeface="Noto Sans Symbols"/>
              <a:buChar char="■"/>
            </a:pPr>
            <a:r>
              <a:rPr b="0" i="0" lang="en-US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Ler (e re-ler) a mensagem para compreender</a:t>
            </a:r>
            <a:endParaRPr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</a:t>
            </a:r>
            <a:endParaRPr/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1042987" y="1491853"/>
            <a:ext cx="7821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Como computadores podem trabalhar com nossas capacidades de percepção?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143000" y="171450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371600" y="1856184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1042987" y="3165872"/>
            <a:ext cx="7821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Sistema visual humano</a:t>
            </a:r>
            <a:endParaRPr/>
          </a:p>
          <a:p>
            <a:pPr indent="-238125" lvl="1" marL="733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72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Exige pequena quantidade de tempo para reagir a estímulos e mover os olhos para onde a informação está sendo apresentada</a:t>
            </a:r>
            <a:endParaRPr sz="800"/>
          </a:p>
          <a:p>
            <a:pPr indent="-238125" lvl="1" marL="733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72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Ler (e re-ler) a mensagem para compreender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(2)</a:t>
            </a:r>
            <a:endParaRPr/>
          </a:p>
        </p:txBody>
      </p:sp>
      <p:graphicFrame>
        <p:nvGraphicFramePr>
          <p:cNvPr id="115" name="Google Shape;115;p7"/>
          <p:cNvGraphicFramePr/>
          <p:nvPr/>
        </p:nvGraphicFramePr>
        <p:xfrm>
          <a:off x="1331912" y="1815703"/>
          <a:ext cx="2857499" cy="1351358"/>
        </p:xfrm>
        <a:graphic>
          <a:graphicData uri="http://schemas.openxmlformats.org/presentationml/2006/ole">
            <mc:AlternateContent>
              <mc:Choice Requires="v">
                <p:oleObj r:id="rId4" imgH="1351358" imgW="2857499" spid="_x0000_s1">
                  <p:embed/>
                </p:oleObj>
              </mc:Choice>
              <mc:Fallback>
                <p:oleObj r:id="rId5" imgH="1351358" imgW="2857499">
                  <p:embed/>
                  <p:pic>
                    <p:nvPicPr>
                      <p:cNvPr id="115" name="Google Shape;115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331912" y="1815703"/>
                        <a:ext cx="2857499" cy="1351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Google Shape;116;p7"/>
          <p:cNvSpPr/>
          <p:nvPr/>
        </p:nvSpPr>
        <p:spPr>
          <a:xfrm>
            <a:off x="1150937" y="1727075"/>
            <a:ext cx="503100" cy="129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141437" y="1762125"/>
            <a:ext cx="503100" cy="129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3635375" y="1707349"/>
            <a:ext cx="5184900" cy="2927700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 Sistema de Percepção Humana irá associar significado à informação recebida seja ou não o significado pretendido ou exato</a:t>
            </a: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1295400" y="3429000"/>
            <a:ext cx="3800475" cy="1344215"/>
            <a:chOff x="816" y="2880"/>
            <a:chExt cx="2394" cy="1129"/>
          </a:xfrm>
        </p:grpSpPr>
        <p:graphicFrame>
          <p:nvGraphicFramePr>
            <p:cNvPr id="120" name="Google Shape;120;p7"/>
            <p:cNvGraphicFramePr/>
            <p:nvPr/>
          </p:nvGraphicFramePr>
          <p:xfrm>
            <a:off x="816" y="2880"/>
            <a:ext cx="2394" cy="1129"/>
          </p:xfrm>
          <a:graphic>
            <a:graphicData uri="http://schemas.openxmlformats.org/presentationml/2006/ole">
              <mc:AlternateContent>
                <mc:Choice Requires="v">
                  <p:oleObj r:id="rId7" imgH="1129" imgW="2394" spid="_x0000_s2">
                    <p:embed/>
                  </p:oleObj>
                </mc:Choice>
                <mc:Fallback>
                  <p:oleObj r:id="rId8" imgH="1129" imgW="2394">
                    <p:embed/>
                    <p:pic>
                      <p:nvPicPr>
                        <p:cNvPr id="120" name="Google Shape;120;p7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816" y="2880"/>
                          <a:ext cx="2394" cy="1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1" name="Google Shape;121;p7"/>
            <p:cNvSpPr/>
            <p:nvPr/>
          </p:nvSpPr>
          <p:spPr>
            <a:xfrm>
              <a:off x="1089" y="2926"/>
              <a:ext cx="311" cy="2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1089" y="3606"/>
              <a:ext cx="311" cy="2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3" name="Google Shape;123;p7"/>
          <p:cNvSpPr/>
          <p:nvPr/>
        </p:nvSpPr>
        <p:spPr>
          <a:xfrm>
            <a:off x="1085425" y="3706050"/>
            <a:ext cx="1730700" cy="92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b43aad6ee_1_0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(2)</a:t>
            </a:r>
            <a:endParaRPr/>
          </a:p>
        </p:txBody>
      </p:sp>
      <p:pic>
        <p:nvPicPr>
          <p:cNvPr id="130" name="Google Shape;130;geb43aad6ee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1815703"/>
            <a:ext cx="2857499" cy="135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eb43aad6ee_1_0"/>
          <p:cNvSpPr/>
          <p:nvPr/>
        </p:nvSpPr>
        <p:spPr>
          <a:xfrm>
            <a:off x="1150937" y="1727075"/>
            <a:ext cx="503100" cy="129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geb43aad6ee_1_0"/>
          <p:cNvSpPr/>
          <p:nvPr/>
        </p:nvSpPr>
        <p:spPr>
          <a:xfrm>
            <a:off x="2141437" y="1762125"/>
            <a:ext cx="503100" cy="129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eb43aad6ee_1_0"/>
          <p:cNvSpPr txBox="1"/>
          <p:nvPr/>
        </p:nvSpPr>
        <p:spPr>
          <a:xfrm>
            <a:off x="3635375" y="1707349"/>
            <a:ext cx="5184900" cy="2927700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 Sistema de Percepção Humana irá associar significado à informação recebida seja ou não o significado pretendido ou exato</a:t>
            </a:r>
            <a:endParaRPr/>
          </a:p>
        </p:txBody>
      </p:sp>
      <p:grpSp>
        <p:nvGrpSpPr>
          <p:cNvPr id="134" name="Google Shape;134;geb43aad6ee_1_0"/>
          <p:cNvGrpSpPr/>
          <p:nvPr/>
        </p:nvGrpSpPr>
        <p:grpSpPr>
          <a:xfrm>
            <a:off x="1295400" y="3429000"/>
            <a:ext cx="3802253" cy="1343584"/>
            <a:chOff x="816" y="2880"/>
            <a:chExt cx="2395" cy="1128"/>
          </a:xfrm>
        </p:grpSpPr>
        <p:pic>
          <p:nvPicPr>
            <p:cNvPr id="135" name="Google Shape;135;geb43aad6ee_1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6" y="2880"/>
              <a:ext cx="2395" cy="1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geb43aad6ee_1_0"/>
            <p:cNvSpPr/>
            <p:nvPr/>
          </p:nvSpPr>
          <p:spPr>
            <a:xfrm>
              <a:off x="1089" y="2926"/>
              <a:ext cx="300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geb43aad6ee_1_0"/>
            <p:cNvSpPr/>
            <p:nvPr/>
          </p:nvSpPr>
          <p:spPr>
            <a:xfrm>
              <a:off x="1089" y="3606"/>
              <a:ext cx="300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685800" y="1762125"/>
            <a:ext cx="8202600" cy="29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600075" lvl="0" marL="600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160"/>
              <a:buFont typeface="Noto Sans Symbols"/>
              <a:buChar char="■"/>
            </a:pPr>
            <a:r>
              <a:rPr b="0" i="0" lang="en-US" sz="3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 nosso meio há muita informação</a:t>
            </a:r>
            <a:endParaRPr/>
          </a:p>
          <a:p>
            <a:pPr indent="-479425" lvl="1" marL="98107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840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Constante processamento</a:t>
            </a:r>
            <a:endParaRPr sz="2100"/>
          </a:p>
          <a:p>
            <a:pPr indent="-523875" lvl="1" marL="98107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Tahoma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600075" lvl="0" marL="60007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Mudanças no ambiente atraem nossa atenção</a:t>
            </a:r>
            <a:endParaRPr/>
          </a:p>
          <a:p>
            <a:pPr indent="-479425" lvl="1" marL="98107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840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Luz, som, movimento, cor, novidades</a:t>
            </a:r>
            <a:endParaRPr sz="2100"/>
          </a:p>
          <a:p>
            <a:pPr indent="-479425" lvl="1" marL="98107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840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Sons emitidos no computador distraem ou avisam</a:t>
            </a:r>
            <a:endParaRPr sz="2100"/>
          </a:p>
        </p:txBody>
      </p:sp>
      <p:sp>
        <p:nvSpPr>
          <p:cNvPr id="144" name="Google Shape;144;p9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(3)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(5)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224899" y="1513275"/>
            <a:ext cx="8730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2702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820"/>
              <a:buFont typeface="Noto Sans Symbols"/>
              <a:buChar char="■"/>
            </a:pPr>
            <a:r>
              <a:rPr b="0" i="1" lang="en-US" sz="310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Como os sinais externos que chegam aos órgãos sensoriais são convertidos em experiências perceptivas significativas?</a:t>
            </a:r>
            <a:endParaRPr sz="3100"/>
          </a:p>
          <a:p>
            <a:pPr indent="-257175" lvl="1" marL="7334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Noto Sans Symbols"/>
              <a:buChar char="■"/>
            </a:pPr>
            <a:r>
              <a:rPr b="0" i="0" lang="en-US" sz="2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Através do </a:t>
            </a:r>
            <a:r>
              <a:rPr b="0" i="0" lang="en-US" sz="2500" u="none" cap="none" strike="noStrik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Reconhecimento por casamento de Padrões</a:t>
            </a:r>
            <a:endParaRPr sz="2500"/>
          </a:p>
          <a:p>
            <a:pPr indent="-257175" lvl="1" marL="7334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Noto Sans Symbols"/>
              <a:buChar char="■"/>
            </a:pPr>
            <a:r>
              <a:rPr b="0" i="0" lang="en-US" sz="2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Deve existir um </a:t>
            </a:r>
            <a:r>
              <a:rPr b="0" i="1" lang="en-US" sz="2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template</a:t>
            </a:r>
            <a:r>
              <a:rPr b="0" i="0" lang="en-US" sz="2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para cada um dos padrões a ser reconhecido. Exemplo, reconhecimento de letras.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(6)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468312" y="1545431"/>
            <a:ext cx="84978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Esse processo não funciona se a letra é apresentada com outro tamanho ou orientação; logo, o sistema humano envolve um sistema mais poderoso e flexível.</a:t>
            </a:r>
            <a:endParaRPr/>
          </a:p>
          <a:p>
            <a:pPr indent="-33337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337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Truques são usados por artistas da pintura e da fotografia, violando regras de construção da percepção</a:t>
            </a:r>
            <a:endParaRPr/>
          </a:p>
          <a:p>
            <a:pPr indent="-33337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337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Para que um processo seja aparente, a quantidade de informação pode ser reduzida</a:t>
            </a:r>
            <a:endParaRPr/>
          </a:p>
          <a:p>
            <a:pPr indent="-33337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337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Degrada-se a imagem tornando a interpretação difícil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600200"/>
            <a:ext cx="1889522" cy="307776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>
            <p:ph idx="4294967295"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(7)</a:t>
            </a:r>
            <a:endParaRPr/>
          </a:p>
        </p:txBody>
      </p:sp>
      <p:sp>
        <p:nvSpPr>
          <p:cNvPr id="166" name="Google Shape;166;p13"/>
          <p:cNvSpPr txBox="1"/>
          <p:nvPr>
            <p:ph idx="4294967295" type="body"/>
          </p:nvPr>
        </p:nvSpPr>
        <p:spPr>
          <a:xfrm>
            <a:off x="1116012" y="1545431"/>
            <a:ext cx="39957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 Mecanismo Humano adiciona informações que não estão presentes na imagem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600200"/>
            <a:ext cx="1889522" cy="307776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4"/>
          <p:cNvSpPr txBox="1"/>
          <p:nvPr>
            <p:ph idx="4294967295"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(7)</a:t>
            </a:r>
            <a:endParaRPr/>
          </a:p>
        </p:txBody>
      </p:sp>
      <p:sp>
        <p:nvSpPr>
          <p:cNvPr id="174" name="Google Shape;174;p14"/>
          <p:cNvSpPr txBox="1"/>
          <p:nvPr>
            <p:ph idx="4294967295" type="body"/>
          </p:nvPr>
        </p:nvSpPr>
        <p:spPr>
          <a:xfrm>
            <a:off x="519512" y="1496581"/>
            <a:ext cx="37497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0162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40"/>
              <a:buFont typeface="Noto Sans Symbols"/>
              <a:buChar char="■"/>
            </a:pPr>
            <a:r>
              <a:rPr b="0" i="0" lang="en-US" sz="19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 Mecanismo Humano adiciona informações que não estão presentes na imagem</a:t>
            </a:r>
            <a:endParaRPr sz="2700"/>
          </a:p>
          <a:p>
            <a:pPr indent="-301625" lvl="0" marL="333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940"/>
              <a:buFont typeface="Noto Sans Symbols"/>
              <a:buChar char="■"/>
            </a:pPr>
            <a:r>
              <a:rPr b="0" i="0" lang="en-US" sz="19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 alguém pede para que encontre um rosto, fica mais fácil;</a:t>
            </a:r>
            <a:endParaRPr sz="2700"/>
          </a:p>
          <a:p>
            <a:pPr indent="-301625" lvl="0" marL="3333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940"/>
              <a:buFont typeface="Noto Sans Symbols"/>
              <a:buChar char="■"/>
            </a:pPr>
            <a:r>
              <a:rPr b="0" i="0" lang="en-US" sz="19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Uma vez visto, fica muito difícil não ver mais.</a:t>
            </a:r>
            <a:endParaRPr sz="2700"/>
          </a:p>
        </p:txBody>
      </p:sp>
      <p:sp>
        <p:nvSpPr>
          <p:cNvPr id="175" name="Google Shape;175;p14"/>
          <p:cNvSpPr txBox="1"/>
          <p:nvPr/>
        </p:nvSpPr>
        <p:spPr>
          <a:xfrm>
            <a:off x="287337" y="4533922"/>
            <a:ext cx="8783700" cy="385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“Quando se olha para o que se quer é mais fácil </a:t>
            </a:r>
            <a:r>
              <a:rPr b="0" i="1" lang="en-US" sz="24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ver</a:t>
            </a:r>
            <a:r>
              <a:rPr b="0" i="0" lang="en-US" sz="24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.”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idx="4294967295"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(8)</a:t>
            </a:r>
            <a:endParaRPr/>
          </a:p>
        </p:txBody>
      </p:sp>
      <p:sp>
        <p:nvSpPr>
          <p:cNvPr id="182" name="Google Shape;182;p15"/>
          <p:cNvSpPr txBox="1"/>
          <p:nvPr>
            <p:ph idx="4294967295" type="body"/>
          </p:nvPr>
        </p:nvSpPr>
        <p:spPr>
          <a:xfrm>
            <a:off x="792162" y="1600200"/>
            <a:ext cx="4103700" cy="30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1432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80"/>
              <a:buFont typeface="Noto Sans Symbols"/>
              <a:buChar char="■"/>
            </a:pPr>
            <a:r>
              <a:rPr b="0" i="0" lang="en-US" sz="25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Organizações competitivas na imagem</a:t>
            </a:r>
            <a:endParaRPr sz="2900"/>
          </a:p>
          <a:p>
            <a:pPr indent="-276224" lvl="1" marL="7413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7174" lvl="1" marL="7413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020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Conflito de interpretações</a:t>
            </a:r>
            <a:endParaRPr sz="2500"/>
          </a:p>
          <a:p>
            <a:pPr indent="-276224" lvl="1" marL="7413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7174" lvl="1" marL="7413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020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Salvador Dali e Mauritis Cornelis Escher</a:t>
            </a:r>
            <a:endParaRPr sz="2500"/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0375" y="1491853"/>
            <a:ext cx="2332434" cy="3186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idx="4294967295"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(9)</a:t>
            </a:r>
            <a:endParaRPr/>
          </a:p>
        </p:txBody>
      </p:sp>
      <p:sp>
        <p:nvSpPr>
          <p:cNvPr id="190" name="Google Shape;190;p16"/>
          <p:cNvSpPr txBox="1"/>
          <p:nvPr>
            <p:ph idx="4294967295" type="body"/>
          </p:nvPr>
        </p:nvSpPr>
        <p:spPr>
          <a:xfrm>
            <a:off x="1039812" y="1458515"/>
            <a:ext cx="3424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Quantas faces estão na figura?</a:t>
            </a:r>
            <a:endParaRPr/>
          </a:p>
        </p:txBody>
      </p:sp>
      <p:pic>
        <p:nvPicPr>
          <p:cNvPr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262" y="1491853"/>
            <a:ext cx="2619377" cy="345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idx="4294967295"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(10)</a:t>
            </a:r>
            <a:endParaRPr/>
          </a:p>
        </p:txBody>
      </p:sp>
      <p:sp>
        <p:nvSpPr>
          <p:cNvPr id="198" name="Google Shape;198;p17"/>
          <p:cNvSpPr txBox="1"/>
          <p:nvPr>
            <p:ph idx="4294967295" type="body"/>
          </p:nvPr>
        </p:nvSpPr>
        <p:spPr>
          <a:xfrm>
            <a:off x="1182687" y="1513284"/>
            <a:ext cx="43260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Pato ou Coelho?</a:t>
            </a:r>
            <a:endParaRPr/>
          </a:p>
        </p:txBody>
      </p:sp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212" y="2247900"/>
            <a:ext cx="2915839" cy="1975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>
            <p:ph idx="4294967295"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(11)</a:t>
            </a:r>
            <a:endParaRPr/>
          </a:p>
        </p:txBody>
      </p:sp>
      <p:sp>
        <p:nvSpPr>
          <p:cNvPr id="206" name="Google Shape;206;p18"/>
          <p:cNvSpPr txBox="1"/>
          <p:nvPr>
            <p:ph idx="4294967295" type="body"/>
          </p:nvPr>
        </p:nvSpPr>
        <p:spPr>
          <a:xfrm>
            <a:off x="1182687" y="1513284"/>
            <a:ext cx="32448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Índio </a:t>
            </a:r>
            <a:b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ou</a:t>
            </a:r>
            <a:b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Esquimó?</a:t>
            </a:r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825" y="1491853"/>
            <a:ext cx="2338388" cy="307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(11)</a:t>
            </a:r>
            <a:endParaRPr/>
          </a:p>
        </p:txBody>
      </p:sp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488925" y="1513275"/>
            <a:ext cx="8466300" cy="3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0162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420"/>
              <a:buFont typeface="Noto Sans Symbols"/>
              <a:buChar char="■"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Uma imagem pode ser ambígua</a:t>
            </a:r>
            <a:endParaRPr sz="2700"/>
          </a:p>
          <a:p>
            <a:pPr indent="-244475" lvl="1" marL="7334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040"/>
              <a:buFont typeface="Noto Sans Symbols"/>
              <a:buChar char="■"/>
            </a:pPr>
            <a:r>
              <a:rPr b="0" i="0" lang="en-US" sz="2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Falta de informação</a:t>
            </a:r>
            <a:endParaRPr sz="2300"/>
          </a:p>
          <a:p>
            <a:pPr indent="-244475" lvl="1" marL="7334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040"/>
              <a:buFont typeface="Noto Sans Symbols"/>
              <a:buChar char="■"/>
            </a:pPr>
            <a:r>
              <a:rPr b="0" i="0" lang="en-US" sz="23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Excesso de informação</a:t>
            </a:r>
            <a:endParaRPr sz="2300"/>
          </a:p>
          <a:p>
            <a:pPr indent="-276225" lvl="1" marL="733425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1625" lvl="0" marL="33337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420"/>
              <a:buFont typeface="Noto Sans Symbols"/>
              <a:buChar char="■"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Dificuldade em interpretar a imagem de duas maneiras diferentes ao mesmo tempo</a:t>
            </a:r>
            <a:endParaRPr sz="2700"/>
          </a:p>
          <a:p>
            <a:pPr indent="-333375" lvl="0" marL="33337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ahoma"/>
              <a:buNone/>
            </a:pPr>
            <a:r>
              <a:t/>
            </a:r>
            <a:endParaRPr b="0" i="0" sz="27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1625" lvl="0" marL="33337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33CC"/>
              </a:buClr>
              <a:buSzPts val="1420"/>
              <a:buFont typeface="Noto Sans Symbols"/>
              <a:buChar char="■"/>
            </a:pPr>
            <a:r>
              <a:rPr b="0" i="0" lang="en-US" sz="2700" u="none">
                <a:solidFill>
                  <a:srgbClr val="330099"/>
                </a:solidFill>
                <a:latin typeface="Tahoma"/>
                <a:ea typeface="Tahoma"/>
                <a:cs typeface="Tahoma"/>
                <a:sym typeface="Tahoma"/>
              </a:rPr>
              <a:t>Na percepção auditiva é análogo!</a:t>
            </a:r>
            <a:endParaRPr sz="2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(12)</a:t>
            </a:r>
            <a:endParaRPr/>
          </a:p>
        </p:txBody>
      </p:sp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312899" y="1738200"/>
            <a:ext cx="8681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14325" lvl="0" marL="3333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80"/>
              <a:buFont typeface="Noto Sans Symbols"/>
              <a:buChar char="■"/>
            </a:pPr>
            <a:r>
              <a:rPr b="0" i="0" lang="en-US" sz="25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Experiência passada afeta o processo de percepção</a:t>
            </a:r>
            <a:endParaRPr sz="2900"/>
          </a:p>
          <a:p>
            <a:pPr indent="-3333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5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380"/>
              <a:buFont typeface="Noto Sans Symbols"/>
              <a:buChar char="■"/>
            </a:pPr>
            <a:r>
              <a:rPr b="0" i="0" lang="en-US" sz="25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Percepção do espaço e profundidade (3D)</a:t>
            </a:r>
            <a:endParaRPr sz="2900"/>
          </a:p>
          <a:p>
            <a:pPr indent="-3333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5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380"/>
              <a:buFont typeface="Noto Sans Symbols"/>
              <a:buChar char="■"/>
            </a:pPr>
            <a:r>
              <a:rPr b="0" i="0" lang="en-US" sz="25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organização visual da informação pode resultar também em ilusões</a:t>
            </a:r>
            <a:endParaRPr sz="2900"/>
          </a:p>
          <a:p>
            <a:pPr indent="-3333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5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380"/>
              <a:buFont typeface="Noto Sans Symbols"/>
              <a:buChar char="■"/>
            </a:pPr>
            <a:r>
              <a:rPr b="0" i="0" lang="en-US" sz="250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Exemplo:</a:t>
            </a:r>
            <a:r>
              <a:rPr b="0" i="0" lang="en-US" sz="25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Lápis em movimento, parece de borracha</a:t>
            </a:r>
            <a:endParaRPr sz="2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(13)</a:t>
            </a:r>
            <a:endParaRPr/>
          </a:p>
        </p:txBody>
      </p:sp>
      <p:sp>
        <p:nvSpPr>
          <p:cNvPr id="228" name="Google Shape;228;p21"/>
          <p:cNvSpPr txBox="1"/>
          <p:nvPr>
            <p:ph idx="1" type="body"/>
          </p:nvPr>
        </p:nvSpPr>
        <p:spPr>
          <a:xfrm>
            <a:off x="283574" y="1513275"/>
            <a:ext cx="8671500" cy="27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2702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80"/>
              <a:buFont typeface="Noto Sans Symbols"/>
              <a:buChar char="■"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imagem do ponto mais próximo do lápis move-se na retina mais rapidamente que a imagem do ponto mais distante</a:t>
            </a:r>
            <a:endParaRPr sz="3100"/>
          </a:p>
          <a:p>
            <a:pPr indent="-333375" lvl="0" marL="3333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7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7025" lvl="0" marL="3333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580"/>
              <a:buFont typeface="Noto Sans Symbols"/>
              <a:buChar char="■"/>
            </a:pPr>
            <a:r>
              <a:rPr b="0" i="0" lang="en-US" sz="27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Todos os dados sensoriais são usados para construir uma interpretação consistente do mundo visual.</a:t>
            </a:r>
            <a:endParaRPr sz="3100"/>
          </a:p>
        </p:txBody>
      </p:sp>
      <p:sp>
        <p:nvSpPr>
          <p:cNvPr id="229" name="Google Shape;229;p21"/>
          <p:cNvSpPr txBox="1"/>
          <p:nvPr/>
        </p:nvSpPr>
        <p:spPr>
          <a:xfrm>
            <a:off x="342249" y="4670825"/>
            <a:ext cx="8333400" cy="385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Paralaxe do Movimento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(14)</a:t>
            </a:r>
            <a:endParaRPr/>
          </a:p>
        </p:txBody>
      </p:sp>
      <p:sp>
        <p:nvSpPr>
          <p:cNvPr id="236" name="Google Shape;236;p22"/>
          <p:cNvSpPr txBox="1"/>
          <p:nvPr>
            <p:ph idx="1" type="body"/>
          </p:nvPr>
        </p:nvSpPr>
        <p:spPr>
          <a:xfrm>
            <a:off x="185798" y="1513275"/>
            <a:ext cx="87693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2067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20"/>
              <a:buFont typeface="Noto Sans Symbols"/>
              <a:buChar char="■"/>
            </a:pPr>
            <a:r>
              <a:rPr b="0" i="0" lang="en-US" sz="3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Lindsay e Norman (1972) explicam esses fenômenos através de anomalias da percepção.</a:t>
            </a:r>
            <a:endParaRPr sz="3000"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7" name="Google Shape;237;p22"/>
          <p:cNvGrpSpPr/>
          <p:nvPr/>
        </p:nvGrpSpPr>
        <p:grpSpPr>
          <a:xfrm>
            <a:off x="1988725" y="2826378"/>
            <a:ext cx="4957762" cy="2099072"/>
            <a:chOff x="1610" y="2341"/>
            <a:chExt cx="3123" cy="1763"/>
          </a:xfrm>
        </p:grpSpPr>
        <p:sp>
          <p:nvSpPr>
            <p:cNvPr id="238" name="Google Shape;238;p22"/>
            <p:cNvSpPr/>
            <p:nvPr/>
          </p:nvSpPr>
          <p:spPr>
            <a:xfrm>
              <a:off x="1610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2018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2426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2834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3242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3651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4059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4467" y="2341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1610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2018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2426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>
              <a:off x="2834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3242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3651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4059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4467" y="2704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1610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2018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2426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2834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3242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3651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4059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4467" y="3112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1610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2018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2426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2834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3242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3651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4059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4467" y="3475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1610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2018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2426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2834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3242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3651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4059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4467" y="3838"/>
              <a:ext cx="266" cy="266"/>
            </a:xfrm>
            <a:prstGeom prst="rect">
              <a:avLst/>
            </a:prstGeom>
            <a:solidFill>
              <a:srgbClr val="000000"/>
            </a:solidFill>
            <a:ln cap="sq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(15)</a:t>
            </a:r>
            <a:endParaRPr/>
          </a:p>
        </p:txBody>
      </p:sp>
      <p:sp>
        <p:nvSpPr>
          <p:cNvPr id="284" name="Google Shape;284;p23"/>
          <p:cNvSpPr txBox="1"/>
          <p:nvPr>
            <p:ph idx="1" type="body"/>
          </p:nvPr>
        </p:nvSpPr>
        <p:spPr>
          <a:xfrm>
            <a:off x="234674" y="1600200"/>
            <a:ext cx="85806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1432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140"/>
              <a:buFont typeface="Noto Sans Symbols"/>
              <a:buChar char="■"/>
            </a:pPr>
            <a:r>
              <a:rPr b="0" i="0" lang="en-US" sz="21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Pontos cinza são enxergados na interseção dos quadrados escuros</a:t>
            </a:r>
            <a:endParaRPr sz="2900"/>
          </a:p>
          <a:p>
            <a:pPr indent="-257175" lvl="1" marL="733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Noto Sans Symbols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Fenômeno explicado pelo princípio da análise sensorial que estabelece que células neurais interagem umas com as outras (os receptores afetam uns aos outros)</a:t>
            </a:r>
            <a:endParaRPr sz="2500"/>
          </a:p>
          <a:p>
            <a:pPr indent="-276225" lvl="1" marL="733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3333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1140"/>
              <a:buFont typeface="Noto Sans Symbols"/>
              <a:buChar char="■"/>
            </a:pPr>
            <a:r>
              <a:rPr b="0" i="0" lang="en-US" sz="21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Assim como no olho, todos os sistemas sensoriais exigem mudanças na estimulação para manter a percepção</a:t>
            </a:r>
            <a:endParaRPr sz="2900"/>
          </a:p>
          <a:p>
            <a:pPr indent="-257175" lvl="1" marL="733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Noto Sans Symbols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Audição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não há constância, devido à pressão do ar</a:t>
            </a:r>
            <a:endParaRPr sz="2500"/>
          </a:p>
          <a:p>
            <a:pPr indent="-257175" lvl="1" marL="733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Noto Sans Symbols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Tato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depois de algum tempo não percebemos</a:t>
            </a:r>
            <a:endParaRPr sz="2500"/>
          </a:p>
          <a:p>
            <a:pPr indent="-257175" lvl="1" marL="733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Noto Sans Symbols"/>
              <a:buChar char="■"/>
            </a:pP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Olfato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um cheiro de perfume é notado menos por quem está usando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Percepção Humana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(16)</a:t>
            </a:r>
            <a:endParaRPr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185798" y="1513275"/>
            <a:ext cx="8769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14325" lvl="0" marL="333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20"/>
              <a:buFont typeface="Noto Sans Symbols"/>
              <a:buChar char="■"/>
            </a:pPr>
            <a:r>
              <a:rPr b="0" i="0" lang="en-US" sz="290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Efeito Posterior</a:t>
            </a:r>
            <a:endParaRPr sz="2900"/>
          </a:p>
          <a:p>
            <a:pPr indent="-257175" lvl="1" marL="7334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1240"/>
              <a:buFont typeface="Noto Sans Symbols"/>
              <a:buChar char="■"/>
            </a:pPr>
            <a:r>
              <a:rPr b="0" i="0" lang="en-US" sz="2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visão prolongada de uma imagem deixa marca em percepções futuras</a:t>
            </a:r>
            <a:endParaRPr sz="2500"/>
          </a:p>
          <a:p>
            <a:pPr indent="-209550" lvl="2" marL="1143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Noto Sans Symbols"/>
              <a:buChar char="■"/>
            </a:pPr>
            <a:r>
              <a:rPr b="0" i="0" lang="en-US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Exposição a uma determinada cor; após olhar para o branco, a cor que irá aparecer é a cor complementar da primeira.</a:t>
            </a:r>
            <a:endParaRPr sz="2100"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360362" y="4083844"/>
            <a:ext cx="8315400" cy="7560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3375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“O tipo exato de operação dos detectores de padrões específicos ainda não é bem conhecido.”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Considerações Finais</a:t>
            </a:r>
            <a:endParaRPr/>
          </a:p>
        </p:txBody>
      </p:sp>
      <p:sp>
        <p:nvSpPr>
          <p:cNvPr id="299" name="Google Shape;299;p25"/>
          <p:cNvSpPr txBox="1"/>
          <p:nvPr>
            <p:ph idx="1" type="body"/>
          </p:nvPr>
        </p:nvSpPr>
        <p:spPr>
          <a:xfrm>
            <a:off x="332475" y="1513275"/>
            <a:ext cx="86226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95275" lvl="0" marL="3333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080"/>
              <a:buFont typeface="Noto Sans Symbols"/>
              <a:buChar char="■"/>
            </a:pPr>
            <a:r>
              <a:rPr b="0" i="0" lang="en-US" sz="2200" u="non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Perceber é muito mais do que ver!</a:t>
            </a:r>
            <a:endParaRPr sz="2600"/>
          </a:p>
          <a:p>
            <a:pPr indent="-3333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200" u="none">
              <a:solidFill>
                <a:srgbClr val="3333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52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1080"/>
              <a:buFont typeface="Noto Sans Symbols"/>
              <a:buChar char="■"/>
            </a:pPr>
            <a:r>
              <a:rPr b="0" i="0" lang="en-US" sz="2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Interfaces gráficas</a:t>
            </a:r>
            <a:endParaRPr sz="2600"/>
          </a:p>
          <a:p>
            <a:pPr indent="-238125" lvl="1" marL="7334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72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Oferecem facilidades ao usuário, mas ao mesmo tempo exigem processamento perceptivo muito intenso;</a:t>
            </a:r>
            <a:endParaRPr sz="2200"/>
          </a:p>
          <a:p>
            <a:pPr indent="-276225" lvl="1" marL="7334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8125" lvl="1" marL="733425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72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Transferem a memorização e a carga cognitiva das interfaces baseadas em linguagens de comando para o processamento perceptual e viso motor</a:t>
            </a:r>
            <a:endParaRPr sz="2200"/>
          </a:p>
        </p:txBody>
      </p:sp>
      <p:sp>
        <p:nvSpPr>
          <p:cNvPr id="300" name="Google Shape;300;p25"/>
          <p:cNvSpPr txBox="1"/>
          <p:nvPr/>
        </p:nvSpPr>
        <p:spPr>
          <a:xfrm>
            <a:off x="479150" y="4204750"/>
            <a:ext cx="8311800" cy="8115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68261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“O projetista deve estar consciente das possibilidades e restrições do usuário”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1150937" y="463153"/>
            <a:ext cx="7793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Considerações Finais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(2)</a:t>
            </a:r>
            <a:endParaRPr/>
          </a:p>
        </p:txBody>
      </p:sp>
      <p:sp>
        <p:nvSpPr>
          <p:cNvPr id="307" name="Google Shape;307;p26"/>
          <p:cNvSpPr txBox="1"/>
          <p:nvPr>
            <p:ph idx="1" type="body"/>
          </p:nvPr>
        </p:nvSpPr>
        <p:spPr>
          <a:xfrm>
            <a:off x="146673" y="1513275"/>
            <a:ext cx="88083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01625" lvl="0" marL="333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180"/>
              <a:buFont typeface="Noto Sans Symbols"/>
              <a:buChar char="■"/>
            </a:pPr>
            <a:r>
              <a:rPr b="0" i="0" lang="en-US" sz="23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Computador</a:t>
            </a:r>
            <a:endParaRPr sz="2700"/>
          </a:p>
          <a:p>
            <a:pPr indent="-24447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820"/>
              <a:buFont typeface="Noto Sans Symbols"/>
              <a:buChar char="■"/>
            </a:pPr>
            <a:r>
              <a:rPr b="0" i="0" lang="en-US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Mensagens devem permanecer na tela o tempo suficiente para passar a informação às funções de nível mais alto ao </a:t>
            </a:r>
            <a:r>
              <a:rPr b="0" i="0" lang="en-US" sz="1900" u="none" cap="none" strike="noStrike">
                <a:solidFill>
                  <a:srgbClr val="3333CC"/>
                </a:solidFill>
                <a:latin typeface="Tahoma"/>
                <a:ea typeface="Tahoma"/>
                <a:cs typeface="Tahoma"/>
                <a:sym typeface="Tahoma"/>
              </a:rPr>
              <a:t>Processador de Informação Humano</a:t>
            </a:r>
            <a:endParaRPr sz="2300"/>
          </a:p>
          <a:p>
            <a:pPr indent="-27622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t/>
            </a:r>
            <a:endParaRPr b="0" i="0" sz="1900" u="none" cap="none" strike="noStrike">
              <a:solidFill>
                <a:srgbClr val="3333C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44475" lvl="1" marL="733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820"/>
              <a:buFont typeface="Noto Sans Symbols"/>
              <a:buChar char="■"/>
            </a:pPr>
            <a:r>
              <a:rPr b="0" i="0" lang="en-US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Fundos animados</a:t>
            </a:r>
            <a:endParaRPr sz="2300"/>
          </a:p>
          <a:p>
            <a:pPr indent="-19685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500"/>
              <a:buFont typeface="Noto Sans Symbols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Processamento desnecessário de informação</a:t>
            </a:r>
            <a:endParaRPr sz="1900"/>
          </a:p>
          <a:p>
            <a:pPr indent="-19685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500"/>
              <a:buFont typeface="Noto Sans Symbols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Esforço maior; Cansaço</a:t>
            </a:r>
            <a:endParaRPr sz="1900"/>
          </a:p>
          <a:p>
            <a:pPr indent="-19685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CC"/>
              </a:buClr>
              <a:buSzPts val="500"/>
              <a:buFont typeface="Noto Sans Symbols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Menos atenção; Menor percepção</a:t>
            </a:r>
            <a:endParaRPr sz="1900"/>
          </a:p>
        </p:txBody>
      </p:sp>
      <p:sp>
        <p:nvSpPr>
          <p:cNvPr id="308" name="Google Shape;308;p26"/>
          <p:cNvSpPr txBox="1"/>
          <p:nvPr/>
        </p:nvSpPr>
        <p:spPr>
          <a:xfrm>
            <a:off x="248687" y="4407684"/>
            <a:ext cx="8604300" cy="464100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Observar: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Luz, Temperatura, Som, Movimento, Cores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755650" y="463153"/>
            <a:ext cx="838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Considerações Finais </a:t>
            </a:r>
            <a:r>
              <a:rPr b="0" i="0" lang="en-US" sz="2000" u="non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rPr>
              <a:t>(3)</a:t>
            </a:r>
            <a:endParaRPr/>
          </a:p>
        </p:txBody>
      </p:sp>
      <p:sp>
        <p:nvSpPr>
          <p:cNvPr id="315" name="Google Shape;315;p27"/>
          <p:cNvSpPr txBox="1"/>
          <p:nvPr>
            <p:ph idx="1" type="body"/>
          </p:nvPr>
        </p:nvSpPr>
        <p:spPr>
          <a:xfrm>
            <a:off x="224900" y="1653775"/>
            <a:ext cx="8658600" cy="3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82575" lvl="0" marL="3333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880"/>
              <a:buFont typeface="Noto Sans Symbols"/>
              <a:buChar char="■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Projeto de Interfaces – Atenção para a Percepção Humana</a:t>
            </a:r>
            <a:endParaRPr sz="2400"/>
          </a:p>
          <a:p>
            <a:pPr indent="-3333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25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3333CC"/>
              </a:buClr>
              <a:buSzPts val="880"/>
              <a:buFont typeface="Noto Sans Symbols"/>
              <a:buChar char="■"/>
            </a:pPr>
            <a:r>
              <a:rPr b="0" i="0" lang="en-US" sz="20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Interfaces que exigem a lembrança de informações de telas para telas</a:t>
            </a:r>
            <a:endParaRPr sz="2400"/>
          </a:p>
          <a:p>
            <a:pPr indent="-512762" lvl="1" marL="147796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sz="2000"/>
          </a:p>
          <a:p>
            <a:pPr indent="-333375" lvl="0" marL="3333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2002-04-04T09:24:40Z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